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55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2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486400" cy="5486400"/>
          </a:xfrm>
          <a:prstGeom prst="ellipse">
            <a:avLst/>
          </a:prstGeom>
          <a:solidFill>
            <a:srgbClr val="4A4557">
              <a:alpha val="6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4A4557">
              <a:alpha val="4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260604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03504"/>
            <a:ext cx="237744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F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|  RQY1102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154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Gesco</a:t>
            </a:r>
            <a:r>
              <a:rPr lang="en-US" sz="5400" b="1" dirty="0">
                <a:solidFill>
                  <a:srgbClr val="E4E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El Mirador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y transparencia de gastos comunes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1828800" cy="0"/>
          </a:xfrm>
          <a:prstGeom prst="line">
            <a:avLst/>
          </a:prstGeom>
          <a:noFill/>
          <a:ln w="31750">
            <a:solidFill>
              <a:srgbClr val="EF9B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Arquitectura de Software (DAS) · Presentación de proyecto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Campos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· Escuela de Informática y Telecomunicaciones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Integrantes, roles y tipo de organización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481328"/>
            <a:ext cx="2834640" cy="4480560"/>
          </a:xfrm>
          <a:prstGeom prst="roundRect">
            <a:avLst>
              <a:gd name="adj" fmla="val 2778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1417320" y="1783080"/>
            <a:ext cx="1371600" cy="1371600"/>
          </a:xfrm>
          <a:prstGeom prst="ellipse">
            <a:avLst/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1417320" y="1783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Benjamin Campos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611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único del proyecto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05840" y="4023360"/>
            <a:ext cx="2194560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4023360" y="1508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organización: proyecto unipersonal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023360" y="19202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 un proyecto individual, no existe una estructura jerárquica entre integrantes: la toma de decisiones y la ejecución de todas las fases del ciclo de vida </a:t>
            </a:r>
            <a:r>
              <a:rPr lang="en-US" sz="1250" dirty="0" err="1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recaen</a:t>
            </a:r>
            <a:r>
              <a:rPr lang="en-US" sz="12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2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1250" dirty="0" err="1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</a:t>
            </a:r>
            <a:r>
              <a:rPr lang="en-US" sz="12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 persona, </a:t>
            </a:r>
            <a:r>
              <a:rPr lang="en-US" sz="1250" dirty="0" err="1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1250" dirty="0" err="1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asumo</a:t>
            </a:r>
            <a:r>
              <a:rPr lang="en-US" sz="12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 secuencial los distintos roles que normalmente se repartiría un equipo.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023360" y="28803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4023360" y="2880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26280" y="28346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26280" y="312724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requisitos funcionales y no funcionales junto al contexto del cliente.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023360" y="3593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4023360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26280" y="3547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 de Software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26280" y="38404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estilo en capas, patrón MVC y elaboración del modelo 4+1.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023360" y="43068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4023360" y="4306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26280" y="426110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Full Stack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26280" y="455371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prototipo de alta fidelidad en Figma y su lógica de flujos.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023360" y="5020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4023360" y="5020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26280" y="497433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Tester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26280" y="52669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heurística de Nielsen y verificación de criterios ISO/IEC 25000.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023360" y="57332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1"/>
          <p:cNvSpPr/>
          <p:nvPr/>
        </p:nvSpPr>
        <p:spPr>
          <a:xfrm>
            <a:off x="4023360" y="57332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4526280" y="56875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Proyecto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526280" y="598017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Planificación, control de versiones en Git/GitHub y seguimiento de avance.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y propuesta de solución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7772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NECESIDAD DEL CLIENTE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1488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edificio “El Mirador”, una comunidad residencial mixta de 160 departamentos, gestiona sus gastos comunes de forma completamente manual. Esto satura al personal administrativo y provoca, de forma constante: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19272"/>
            <a:ext cx="82296" cy="82296"/>
          </a:xfrm>
          <a:prstGeom prst="ellipse">
            <a:avLst/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1051560" y="3246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cálculo y retrasos en la emisión de cobros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3703320"/>
            <a:ext cx="82296" cy="82296"/>
          </a:xfrm>
          <a:prstGeom prst="ellipse">
            <a:avLst/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1051560" y="36301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morosidad por falta de seguimiento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4087368"/>
            <a:ext cx="82296" cy="82296"/>
          </a:xfrm>
          <a:prstGeom prst="ellipse">
            <a:avLst/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1051560" y="401421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Afectación financiera al fondo de mantención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4471416"/>
            <a:ext cx="82296" cy="82296"/>
          </a:xfrm>
          <a:prstGeom prst="ellipse">
            <a:avLst/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1051560" y="439826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transparencia hacia los residentes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0" y="1508760"/>
            <a:ext cx="5806440" cy="4480560"/>
          </a:xfrm>
          <a:prstGeom prst="roundRect">
            <a:avLst>
              <a:gd name="adj" fmla="val 1633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62636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F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SOLUCIÓN DE SOFTWARE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3640" y="21488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50" dirty="0">
                <a:solidFill>
                  <a:srgbClr val="E4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 es </a:t>
            </a:r>
            <a:r>
              <a:rPr lang="en-US" sz="1250" dirty="0" err="1">
                <a:solidFill>
                  <a:srgbClr val="E4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50" dirty="0">
                <a:solidFill>
                  <a:srgbClr val="E4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centralizada que automatiza por completo el cobro y control de los gastos comunes, entregando a la administración, propietarios y arrendatarios información clara y confiable en tiempo real.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263640" y="3200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comunidad: </a:t>
            </a:r>
            <a:r>
              <a:rPr lang="en-US" sz="1150" dirty="0">
                <a:solidFill>
                  <a:srgbClr val="C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control de departamentos y residentes.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263640" y="362102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financiero: </a:t>
            </a:r>
            <a:r>
              <a:rPr lang="en-US" sz="1150" dirty="0">
                <a:solidFill>
                  <a:srgbClr val="C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cuotas, pagos y recibos automáticos.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263640" y="40416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deudas: </a:t>
            </a:r>
            <a:r>
              <a:rPr lang="en-US" sz="1150" dirty="0">
                <a:solidFill>
                  <a:srgbClr val="C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morosos y recordatorios automáticos.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263640" y="44622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comunicación: </a:t>
            </a:r>
            <a:r>
              <a:rPr lang="en-US" sz="1150" dirty="0">
                <a:solidFill>
                  <a:srgbClr val="C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Solicitudes, reclamos y avisos de administración.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263640" y="488289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simplificado: </a:t>
            </a:r>
            <a:r>
              <a:rPr lang="en-US" sz="1150" dirty="0">
                <a:solidFill>
                  <a:srgbClr val="C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 arrendatarios mediante código único.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del software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2139696" cy="2331720"/>
          </a:xfrm>
          <a:prstGeom prst="roundRect">
            <a:avLst>
              <a:gd name="adj" fmla="val 3419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594360" y="1709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4360" y="222199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606040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del contexto de “El Mirador” y definición de RF/RNF junto al cliente.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578608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706624" y="1600200"/>
            <a:ext cx="2139696" cy="2331720"/>
          </a:xfrm>
          <a:prstGeom prst="roundRect">
            <a:avLst>
              <a:gd name="adj" fmla="val 3419"/>
            </a:avLst>
          </a:prstGeom>
          <a:solidFill>
            <a:srgbClr val="4A455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2843784" y="1709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843784" y="222199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843784" y="2606040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+ MVC y elaboración del modelo 4+1 (5 vistas UML).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28032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956048" y="1600200"/>
            <a:ext cx="2139696" cy="2331720"/>
          </a:xfrm>
          <a:prstGeom prst="roundRect">
            <a:avLst>
              <a:gd name="adj" fmla="val 3419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5093208" y="1709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093208" y="222199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93208" y="2606040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prototipo de alta fidelidad en Figma con sus flujos funcionales.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077456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7205472" y="1600200"/>
            <a:ext cx="2139696" cy="2331720"/>
          </a:xfrm>
          <a:prstGeom prst="roundRect">
            <a:avLst>
              <a:gd name="adj" fmla="val 3419"/>
            </a:avLst>
          </a:prstGeom>
          <a:solidFill>
            <a:srgbClr val="4A455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7342632" y="1709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342632" y="222199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342632" y="2606040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heurística de Nielsen y verificación contra criterios ISO/IEC 25000.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32688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9454896" y="1600200"/>
            <a:ext cx="2139696" cy="2331720"/>
          </a:xfrm>
          <a:prstGeom prst="roundRect">
            <a:avLst>
              <a:gd name="adj" fmla="val 3419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9592056" y="1709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9592056" y="2221992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592056" y="2606040"/>
            <a:ext cx="18653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mejoras detectadas y control de versiones en Git/GitHub.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7200" y="4206240"/>
            <a:ext cx="11274552" cy="1783080"/>
          </a:xfrm>
          <a:prstGeom prst="roundRect">
            <a:avLst>
              <a:gd name="adj" fmla="val 4103"/>
            </a:avLst>
          </a:prstGeom>
          <a:solidFill>
            <a:srgbClr val="FCEFD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777240" y="43891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APLICADA: MODELO EN CASCADA (WATERFALL)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77240" y="4736592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adoptó un ciclo de vida en cascada porque el proyecto es desarrollado por una sola persona y los requisitos del cliente (edificio “El Mirador”) quedaron definidos de forma completa desde el levantamiento inicial. Lo </a:t>
            </a:r>
            <a:r>
              <a:rPr lang="en-US" sz="1200" dirty="0" err="1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permite avanzar de forma ordenada y secuencial —cerrando y documentando cada fase antes de iniciar la siguiente— sin la sobrecarga de coordinación que exigiría un marco iterativo como Scrum en un equipo de un solo integrante, y calza con la entrega de un DAS formal evaluado por etapas.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Objetivos, alcance y limitaciones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SISTEMA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6112" y="1764792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ciclo de cobranza de los 160 departamentos, sin retrasos.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40487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45720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6112" y="2386584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copropietarios, arrendatarios, pagos y fondos de reserva.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0266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457200" y="3026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6112" y="3008376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morosidad con recordatorios automáticos por correo.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64845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457200" y="3648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6112" y="3630168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Fomentar la transparencia sobre el estado de cuenta en tiempo real.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42702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96112" y="425196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la comunicación entre administración y residentes.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080760" y="1417320"/>
            <a:ext cx="0" cy="470916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355080" y="1737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cubre gestión de comunidad, módulo financiero, control de deudas, canal de comunicación y acceso simplificado para arrendatarios, para uso de administradores, residentes y personal técnico.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355080" y="288036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CEFD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6629400" y="3108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DEL PROTOTIPO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675120" y="3593592"/>
            <a:ext cx="82296" cy="82296"/>
          </a:xfrm>
          <a:prstGeom prst="ellipse">
            <a:avLst/>
          </a:prstGeom>
          <a:solidFill>
            <a:srgbClr val="C97A1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6903720" y="34747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de Configuración del sistema (parámetros de cobro y notificaciones) se valida solo en pantalla; su persistencia en base de datos queda para una iteración futura.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675120" y="4489704"/>
            <a:ext cx="82296" cy="82296"/>
          </a:xfrm>
          <a:prstGeom prst="ellipse">
            <a:avLst/>
          </a:prstGeom>
          <a:solidFill>
            <a:srgbClr val="C97A1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6903720" y="437083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real de correos/alertas depende de la integración con un proveedor externo (SMTP/SendGrid) aún no contratado.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675120" y="5385816"/>
            <a:ext cx="82296" cy="82296"/>
          </a:xfrm>
          <a:prstGeom prst="ellipse">
            <a:avLst/>
          </a:prstGeom>
          <a:solidFill>
            <a:srgbClr val="C97A1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1"/>
          <p:cNvSpPr/>
          <p:nvPr/>
        </p:nvSpPr>
        <p:spPr>
          <a:xfrm>
            <a:off x="6903720" y="5266944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considera un único edificio de 160 departamentos, no una operación multi-edificio.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Estrategias de gestión del proyecto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377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por fase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1520" y="27432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del ciclo en cascada cierra con un entregable revisable (documento o avance del prototipo) antes de iniciar la siguiente, evitando retrabajo.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80760" y="15087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635508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55080" y="2377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355080" y="27432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clave identificados en el diseño —seguridad de datos financieros e integración con el proveedor de correo— se mitigan con cifrado y una capa de servicios desacoplada.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931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6"/>
          <p:cNvSpPr/>
          <p:nvPr/>
        </p:nvSpPr>
        <p:spPr>
          <a:xfrm>
            <a:off x="73152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31520" y="48006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individual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31520" y="51663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 un proyecto unipersonal, la planificación se controla con un checklist de tareas por fase referenciado a la Carta Gantt, sin necesidad de ceremonias de coordinación.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080760" y="39319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635508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6355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355080" y="48006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 continuo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355080" y="516636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heurística de Nielsen y los criterios ISO/IEC 25000 se aplican como puertas de calidad antes de dar por cerrada cada entrega.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del proyecto (EDT + Carta Gantt)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— ESTRUCTURA DE DESCOMPOSICIÓN DEL TRABAJO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169164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4937760" y="1691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45720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88336" y="2514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2688336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19472" y="2514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4919472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50608" y="2514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7150608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381744" y="25146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9381744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29260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— MODELO EN CASCADA (12 SEMANAS, RESPONSABLE ÚNICO)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566160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3566160" y="3205576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246626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4246626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927092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4927092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07558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5607558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288024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6288024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968490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6968490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648956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7648956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8329422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4"/>
          <p:cNvSpPr/>
          <p:nvPr/>
        </p:nvSpPr>
        <p:spPr>
          <a:xfrm>
            <a:off x="8329422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9009888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9009888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9690354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8"/>
          <p:cNvSpPr/>
          <p:nvPr/>
        </p:nvSpPr>
        <p:spPr>
          <a:xfrm>
            <a:off x="9690354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10370820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/>
          <p:nvPr/>
        </p:nvSpPr>
        <p:spPr>
          <a:xfrm>
            <a:off x="10370820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11051286" y="3246120"/>
            <a:ext cx="680466" cy="256032"/>
          </a:xfrm>
          <a:prstGeom prst="rect">
            <a:avLst/>
          </a:prstGeom>
          <a:solidFill>
            <a:srgbClr val="332F3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2"/>
          <p:cNvSpPr/>
          <p:nvPr/>
        </p:nvSpPr>
        <p:spPr>
          <a:xfrm>
            <a:off x="11051286" y="3246120"/>
            <a:ext cx="6804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57200" y="3502152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4"/>
          <p:cNvSpPr/>
          <p:nvPr/>
        </p:nvSpPr>
        <p:spPr>
          <a:xfrm>
            <a:off x="548640" y="350215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requisitos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3566160" y="3502152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Shape 46"/>
          <p:cNvSpPr/>
          <p:nvPr/>
        </p:nvSpPr>
        <p:spPr>
          <a:xfrm>
            <a:off x="4246626" y="3502152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Shape 47"/>
          <p:cNvSpPr/>
          <p:nvPr/>
        </p:nvSpPr>
        <p:spPr>
          <a:xfrm>
            <a:off x="4927092" y="3502152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Shape 48"/>
          <p:cNvSpPr/>
          <p:nvPr/>
        </p:nvSpPr>
        <p:spPr>
          <a:xfrm>
            <a:off x="5607558" y="3502152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Shape 49"/>
          <p:cNvSpPr/>
          <p:nvPr/>
        </p:nvSpPr>
        <p:spPr>
          <a:xfrm>
            <a:off x="6288024" y="3502152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Shape 50"/>
          <p:cNvSpPr/>
          <p:nvPr/>
        </p:nvSpPr>
        <p:spPr>
          <a:xfrm>
            <a:off x="6968490" y="3502152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Shape 51"/>
          <p:cNvSpPr/>
          <p:nvPr/>
        </p:nvSpPr>
        <p:spPr>
          <a:xfrm>
            <a:off x="7648956" y="3502152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Shape 52"/>
          <p:cNvSpPr/>
          <p:nvPr/>
        </p:nvSpPr>
        <p:spPr>
          <a:xfrm>
            <a:off x="8329422" y="3502152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Shape 53"/>
          <p:cNvSpPr/>
          <p:nvPr/>
        </p:nvSpPr>
        <p:spPr>
          <a:xfrm>
            <a:off x="9009888" y="3502152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Shape 54"/>
          <p:cNvSpPr/>
          <p:nvPr/>
        </p:nvSpPr>
        <p:spPr>
          <a:xfrm>
            <a:off x="9690354" y="3502152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Shape 55"/>
          <p:cNvSpPr/>
          <p:nvPr/>
        </p:nvSpPr>
        <p:spPr>
          <a:xfrm>
            <a:off x="10370820" y="3502152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Shape 56"/>
          <p:cNvSpPr/>
          <p:nvPr/>
        </p:nvSpPr>
        <p:spPr>
          <a:xfrm>
            <a:off x="11051286" y="3502152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Shape 57"/>
          <p:cNvSpPr/>
          <p:nvPr/>
        </p:nvSpPr>
        <p:spPr>
          <a:xfrm>
            <a:off x="457200" y="3886200"/>
            <a:ext cx="3108960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Text 58"/>
          <p:cNvSpPr/>
          <p:nvPr/>
        </p:nvSpPr>
        <p:spPr>
          <a:xfrm>
            <a:off x="548640" y="38862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modelo 4+1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3566160" y="3886200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Shape 60"/>
          <p:cNvSpPr/>
          <p:nvPr/>
        </p:nvSpPr>
        <p:spPr>
          <a:xfrm>
            <a:off x="4246626" y="3886200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4" name="Shape 61"/>
          <p:cNvSpPr/>
          <p:nvPr/>
        </p:nvSpPr>
        <p:spPr>
          <a:xfrm>
            <a:off x="4927092" y="3886200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Shape 62"/>
          <p:cNvSpPr/>
          <p:nvPr/>
        </p:nvSpPr>
        <p:spPr>
          <a:xfrm>
            <a:off x="5607558" y="3886200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6" name="Shape 63"/>
          <p:cNvSpPr/>
          <p:nvPr/>
        </p:nvSpPr>
        <p:spPr>
          <a:xfrm>
            <a:off x="6288024" y="3886200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Shape 64"/>
          <p:cNvSpPr/>
          <p:nvPr/>
        </p:nvSpPr>
        <p:spPr>
          <a:xfrm>
            <a:off x="6968490" y="3886200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8" name="Shape 65"/>
          <p:cNvSpPr/>
          <p:nvPr/>
        </p:nvSpPr>
        <p:spPr>
          <a:xfrm>
            <a:off x="7648956" y="3886200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Shape 66"/>
          <p:cNvSpPr/>
          <p:nvPr/>
        </p:nvSpPr>
        <p:spPr>
          <a:xfrm>
            <a:off x="8329422" y="3886200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" name="Shape 67"/>
          <p:cNvSpPr/>
          <p:nvPr/>
        </p:nvSpPr>
        <p:spPr>
          <a:xfrm>
            <a:off x="9009888" y="3886200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1" name="Shape 68"/>
          <p:cNvSpPr/>
          <p:nvPr/>
        </p:nvSpPr>
        <p:spPr>
          <a:xfrm>
            <a:off x="9690354" y="3886200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2" name="Shape 69"/>
          <p:cNvSpPr/>
          <p:nvPr/>
        </p:nvSpPr>
        <p:spPr>
          <a:xfrm>
            <a:off x="10370820" y="3886200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Shape 70"/>
          <p:cNvSpPr/>
          <p:nvPr/>
        </p:nvSpPr>
        <p:spPr>
          <a:xfrm>
            <a:off x="11051286" y="3886200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4" name="Shape 71"/>
          <p:cNvSpPr/>
          <p:nvPr/>
        </p:nvSpPr>
        <p:spPr>
          <a:xfrm>
            <a:off x="457200" y="4270248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Text 72"/>
          <p:cNvSpPr/>
          <p:nvPr/>
        </p:nvSpPr>
        <p:spPr>
          <a:xfrm>
            <a:off x="548640" y="427024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alta fidelidad (Figma)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3566160" y="4270248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7" name="Shape 74"/>
          <p:cNvSpPr/>
          <p:nvPr/>
        </p:nvSpPr>
        <p:spPr>
          <a:xfrm>
            <a:off x="4246626" y="4270248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8" name="Shape 75"/>
          <p:cNvSpPr/>
          <p:nvPr/>
        </p:nvSpPr>
        <p:spPr>
          <a:xfrm>
            <a:off x="4927092" y="4270248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9" name="Shape 76"/>
          <p:cNvSpPr/>
          <p:nvPr/>
        </p:nvSpPr>
        <p:spPr>
          <a:xfrm>
            <a:off x="5607558" y="4270248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0" name="Shape 77"/>
          <p:cNvSpPr/>
          <p:nvPr/>
        </p:nvSpPr>
        <p:spPr>
          <a:xfrm>
            <a:off x="6288024" y="4270248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Shape 78"/>
          <p:cNvSpPr/>
          <p:nvPr/>
        </p:nvSpPr>
        <p:spPr>
          <a:xfrm>
            <a:off x="6968490" y="4270248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2" name="Shape 79"/>
          <p:cNvSpPr/>
          <p:nvPr/>
        </p:nvSpPr>
        <p:spPr>
          <a:xfrm>
            <a:off x="7648956" y="4270248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3" name="Shape 80"/>
          <p:cNvSpPr/>
          <p:nvPr/>
        </p:nvSpPr>
        <p:spPr>
          <a:xfrm>
            <a:off x="8329422" y="4270248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4" name="Shape 81"/>
          <p:cNvSpPr/>
          <p:nvPr/>
        </p:nvSpPr>
        <p:spPr>
          <a:xfrm>
            <a:off x="9009888" y="4270248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5" name="Shape 82"/>
          <p:cNvSpPr/>
          <p:nvPr/>
        </p:nvSpPr>
        <p:spPr>
          <a:xfrm>
            <a:off x="9690354" y="4270248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6" name="Shape 83"/>
          <p:cNvSpPr/>
          <p:nvPr/>
        </p:nvSpPr>
        <p:spPr>
          <a:xfrm>
            <a:off x="10370820" y="4270248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7" name="Shape 84"/>
          <p:cNvSpPr/>
          <p:nvPr/>
        </p:nvSpPr>
        <p:spPr>
          <a:xfrm>
            <a:off x="11051286" y="4270248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8" name="Shape 85"/>
          <p:cNvSpPr/>
          <p:nvPr/>
        </p:nvSpPr>
        <p:spPr>
          <a:xfrm>
            <a:off x="457200" y="4654296"/>
            <a:ext cx="3108960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9" name="Text 86"/>
          <p:cNvSpPr/>
          <p:nvPr/>
        </p:nvSpPr>
        <p:spPr>
          <a:xfrm>
            <a:off x="548640" y="4654296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flujos y contenidos</a:t>
            </a:r>
            <a:endParaRPr lang="en-US" sz="950" dirty="0"/>
          </a:p>
        </p:txBody>
      </p:sp>
      <p:sp>
        <p:nvSpPr>
          <p:cNvPr id="90" name="Shape 87"/>
          <p:cNvSpPr/>
          <p:nvPr/>
        </p:nvSpPr>
        <p:spPr>
          <a:xfrm>
            <a:off x="3566160" y="4654296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1" name="Shape 88"/>
          <p:cNvSpPr/>
          <p:nvPr/>
        </p:nvSpPr>
        <p:spPr>
          <a:xfrm>
            <a:off x="4246626" y="4654296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2" name="Shape 89"/>
          <p:cNvSpPr/>
          <p:nvPr/>
        </p:nvSpPr>
        <p:spPr>
          <a:xfrm>
            <a:off x="4927092" y="4654296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3" name="Shape 90"/>
          <p:cNvSpPr/>
          <p:nvPr/>
        </p:nvSpPr>
        <p:spPr>
          <a:xfrm>
            <a:off x="5607558" y="4654296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4" name="Shape 91"/>
          <p:cNvSpPr/>
          <p:nvPr/>
        </p:nvSpPr>
        <p:spPr>
          <a:xfrm>
            <a:off x="6288024" y="4654296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5" name="Shape 92"/>
          <p:cNvSpPr/>
          <p:nvPr/>
        </p:nvSpPr>
        <p:spPr>
          <a:xfrm>
            <a:off x="6968490" y="4654296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6" name="Shape 93"/>
          <p:cNvSpPr/>
          <p:nvPr/>
        </p:nvSpPr>
        <p:spPr>
          <a:xfrm>
            <a:off x="7648956" y="4654296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7" name="Shape 94"/>
          <p:cNvSpPr/>
          <p:nvPr/>
        </p:nvSpPr>
        <p:spPr>
          <a:xfrm>
            <a:off x="8329422" y="4654296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8" name="Shape 95"/>
          <p:cNvSpPr/>
          <p:nvPr/>
        </p:nvSpPr>
        <p:spPr>
          <a:xfrm>
            <a:off x="9009888" y="4654296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9" name="Shape 96"/>
          <p:cNvSpPr/>
          <p:nvPr/>
        </p:nvSpPr>
        <p:spPr>
          <a:xfrm>
            <a:off x="9690354" y="4654296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0" name="Shape 97"/>
          <p:cNvSpPr/>
          <p:nvPr/>
        </p:nvSpPr>
        <p:spPr>
          <a:xfrm>
            <a:off x="10370820" y="4654296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1" name="Shape 98"/>
          <p:cNvSpPr/>
          <p:nvPr/>
        </p:nvSpPr>
        <p:spPr>
          <a:xfrm>
            <a:off x="11051286" y="4654296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2" name="Shape 99"/>
          <p:cNvSpPr/>
          <p:nvPr/>
        </p:nvSpPr>
        <p:spPr>
          <a:xfrm>
            <a:off x="457200" y="5038344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3" name="Text 100"/>
          <p:cNvSpPr/>
          <p:nvPr/>
        </p:nvSpPr>
        <p:spPr>
          <a:xfrm>
            <a:off x="548640" y="503834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heurística Nielsen + ISO 25000</a:t>
            </a:r>
            <a:endParaRPr lang="en-US" sz="950" dirty="0"/>
          </a:p>
        </p:txBody>
      </p:sp>
      <p:sp>
        <p:nvSpPr>
          <p:cNvPr id="104" name="Shape 101"/>
          <p:cNvSpPr/>
          <p:nvPr/>
        </p:nvSpPr>
        <p:spPr>
          <a:xfrm>
            <a:off x="3566160" y="5038344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5" name="Shape 102"/>
          <p:cNvSpPr/>
          <p:nvPr/>
        </p:nvSpPr>
        <p:spPr>
          <a:xfrm>
            <a:off x="4246626" y="5038344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6" name="Shape 103"/>
          <p:cNvSpPr/>
          <p:nvPr/>
        </p:nvSpPr>
        <p:spPr>
          <a:xfrm>
            <a:off x="4927092" y="5038344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7" name="Shape 104"/>
          <p:cNvSpPr/>
          <p:nvPr/>
        </p:nvSpPr>
        <p:spPr>
          <a:xfrm>
            <a:off x="5607558" y="5038344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8" name="Shape 105"/>
          <p:cNvSpPr/>
          <p:nvPr/>
        </p:nvSpPr>
        <p:spPr>
          <a:xfrm>
            <a:off x="6288024" y="5038344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9" name="Shape 106"/>
          <p:cNvSpPr/>
          <p:nvPr/>
        </p:nvSpPr>
        <p:spPr>
          <a:xfrm>
            <a:off x="6968490" y="5038344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0" name="Shape 107"/>
          <p:cNvSpPr/>
          <p:nvPr/>
        </p:nvSpPr>
        <p:spPr>
          <a:xfrm>
            <a:off x="7648956" y="5038344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1" name="Shape 108"/>
          <p:cNvSpPr/>
          <p:nvPr/>
        </p:nvSpPr>
        <p:spPr>
          <a:xfrm>
            <a:off x="8329422" y="5038344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2" name="Shape 109"/>
          <p:cNvSpPr/>
          <p:nvPr/>
        </p:nvSpPr>
        <p:spPr>
          <a:xfrm>
            <a:off x="9009888" y="5038344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3" name="Shape 110"/>
          <p:cNvSpPr/>
          <p:nvPr/>
        </p:nvSpPr>
        <p:spPr>
          <a:xfrm>
            <a:off x="9690354" y="5038344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4" name="Shape 111"/>
          <p:cNvSpPr/>
          <p:nvPr/>
        </p:nvSpPr>
        <p:spPr>
          <a:xfrm>
            <a:off x="10370820" y="5038344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5" name="Shape 112"/>
          <p:cNvSpPr/>
          <p:nvPr/>
        </p:nvSpPr>
        <p:spPr>
          <a:xfrm>
            <a:off x="11051286" y="5038344"/>
            <a:ext cx="68046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6" name="Shape 113"/>
          <p:cNvSpPr/>
          <p:nvPr/>
        </p:nvSpPr>
        <p:spPr>
          <a:xfrm>
            <a:off x="457200" y="5422392"/>
            <a:ext cx="3108960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7" name="Text 114"/>
          <p:cNvSpPr/>
          <p:nvPr/>
        </p:nvSpPr>
        <p:spPr>
          <a:xfrm>
            <a:off x="548640" y="542239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control de versiones y entrega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3566160" y="5422392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9" name="Shape 116"/>
          <p:cNvSpPr/>
          <p:nvPr/>
        </p:nvSpPr>
        <p:spPr>
          <a:xfrm>
            <a:off x="4246626" y="5422392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0" name="Shape 117"/>
          <p:cNvSpPr/>
          <p:nvPr/>
        </p:nvSpPr>
        <p:spPr>
          <a:xfrm>
            <a:off x="4927092" y="5422392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1" name="Shape 118"/>
          <p:cNvSpPr/>
          <p:nvPr/>
        </p:nvSpPr>
        <p:spPr>
          <a:xfrm>
            <a:off x="5607558" y="5422392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2" name="Shape 119"/>
          <p:cNvSpPr/>
          <p:nvPr/>
        </p:nvSpPr>
        <p:spPr>
          <a:xfrm>
            <a:off x="6288024" y="5422392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3" name="Shape 120"/>
          <p:cNvSpPr/>
          <p:nvPr/>
        </p:nvSpPr>
        <p:spPr>
          <a:xfrm>
            <a:off x="6968490" y="5422392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4" name="Shape 121"/>
          <p:cNvSpPr/>
          <p:nvPr/>
        </p:nvSpPr>
        <p:spPr>
          <a:xfrm>
            <a:off x="7648956" y="5422392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5" name="Shape 122"/>
          <p:cNvSpPr/>
          <p:nvPr/>
        </p:nvSpPr>
        <p:spPr>
          <a:xfrm>
            <a:off x="8329422" y="5422392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6" name="Shape 123"/>
          <p:cNvSpPr/>
          <p:nvPr/>
        </p:nvSpPr>
        <p:spPr>
          <a:xfrm>
            <a:off x="9009888" y="5422392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7" name="Shape 124"/>
          <p:cNvSpPr/>
          <p:nvPr/>
        </p:nvSpPr>
        <p:spPr>
          <a:xfrm>
            <a:off x="9690354" y="5422392"/>
            <a:ext cx="680466" cy="384048"/>
          </a:xfrm>
          <a:prstGeom prst="rect">
            <a:avLst/>
          </a:prstGeom>
          <a:solidFill>
            <a:srgbClr val="F4F3F6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8" name="Shape 125"/>
          <p:cNvSpPr/>
          <p:nvPr/>
        </p:nvSpPr>
        <p:spPr>
          <a:xfrm>
            <a:off x="10370820" y="5422392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9" name="Shape 126"/>
          <p:cNvSpPr/>
          <p:nvPr/>
        </p:nvSpPr>
        <p:spPr>
          <a:xfrm>
            <a:off x="11051286" y="5422392"/>
            <a:ext cx="680466" cy="384048"/>
          </a:xfrm>
          <a:prstGeom prst="rect">
            <a:avLst/>
          </a:prstGeom>
          <a:solidFill>
            <a:srgbClr val="EF9B2D"/>
          </a:solidFill>
          <a:ln w="635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0" name="Text 127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proyecto completado — 100% de las fases ejecutadas y documentadas al cierre del semestre.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SOFTWARE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 arquitectónico y modelo 4+1 (UML)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ESTILO: ARQUITECTURA EN CAPAS + PATRÓN MVC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760720" cy="914400"/>
          </a:xfrm>
          <a:prstGeom prst="roundRect">
            <a:avLst>
              <a:gd name="adj" fmla="val 7000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85800" y="1874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(Vista)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22219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web/móvil: formularios de gastos, botones de pago.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926080" y="26791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9B2D"/>
                </a:solidFill>
              </a:rPr>
              <a:t>▾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5760720" cy="914400"/>
          </a:xfrm>
          <a:prstGeom prst="roundRect">
            <a:avLst>
              <a:gd name="adj" fmla="val 7000"/>
            </a:avLst>
          </a:prstGeom>
          <a:solidFill>
            <a:srgbClr val="4A455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685800" y="2926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(Controlador)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327355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edificio: cálculo de cuotas y estado de mora.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926080" y="3730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9B2D"/>
                </a:solidFill>
              </a:rPr>
              <a:t>▾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5760720" cy="914400"/>
          </a:xfrm>
          <a:prstGeom prst="roundRect">
            <a:avLst>
              <a:gd name="adj" fmla="val 7000"/>
            </a:avLst>
          </a:prstGeom>
          <a:solidFill>
            <a:srgbClr val="5C576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685800" y="3977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 (Modelo)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" y="43251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residentes, pagos e historiales.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498348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separar vista, lógica y datos evita que un cambio visual afecte los cálculos de cobro, permite un desarrollo ordenado y refuerza la seguridad frente a accesos directos a los datos financieros.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537960" y="1371600"/>
            <a:ext cx="0" cy="475488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6812280" y="1371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4+1 VISTAS ARQUITECTÓNICAS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812280" y="17830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68122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0" y="175564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Escenario: </a:t>
            </a: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por actor (Residente, Arrendatario, Administración).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812280" y="2560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68122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15200" y="253288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Lógica: </a:t>
            </a: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del dominio: Usuario, Pago, GastoEdificio, Recibo…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812280" y="3337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681228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15200" y="331012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Desarrollo: </a:t>
            </a: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Componentes: presentación, API REST y base de datos.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812280" y="41148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681228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315200" y="408736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Procesos: </a:t>
            </a: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dinámico del pago de gastos comunes.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812280" y="48920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681228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315200" y="486460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Física: </a:t>
            </a:r>
            <a:r>
              <a:rPr lang="en-US" sz="115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cloud, base de datos y servicio de notificaciones.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812280" y="5715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de cada vista con su diagrama UML correspondiente se presenta en el anexo (láminas 14 a 18).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DE REQUISITOS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funcionales y no funcionales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5669280" cy="411480"/>
          </a:xfrm>
          <a:prstGeom prst="roundRect">
            <a:avLst>
              <a:gd name="adj" fmla="val 13333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457200" y="14173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(RF)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1965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9659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roles diferenciados; código único para arrendatarios.</a:t>
            </a:r>
            <a:endParaRPr lang="en-US" sz="1030" dirty="0"/>
          </a:p>
        </p:txBody>
      </p:sp>
      <p:sp>
        <p:nvSpPr>
          <p:cNvPr id="12" name="Text 9"/>
          <p:cNvSpPr/>
          <p:nvPr/>
        </p:nvSpPr>
        <p:spPr>
          <a:xfrm>
            <a:off x="457200" y="25328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253288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comunidad: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baja y modificación de departamentos y residentes.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457200" y="30998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3099816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carga de gastos: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automática de gastos por % de cada departamento.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457200" y="36667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3666744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pagos: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Comprobantes y validación del administrador para actualizar saldo.</a:t>
            </a:r>
            <a:endParaRPr lang="en-US" sz="1030" dirty="0"/>
          </a:p>
        </p:txBody>
      </p:sp>
      <p:sp>
        <p:nvSpPr>
          <p:cNvPr id="18" name="Text 15"/>
          <p:cNvSpPr/>
          <p:nvPr/>
        </p:nvSpPr>
        <p:spPr>
          <a:xfrm>
            <a:off x="457200" y="42336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0120" y="4233672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reportes: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 y recibos individuales en PDF.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457200" y="4800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" y="48006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por correo ante gastos o atrasos.</a:t>
            </a:r>
            <a:endParaRPr lang="en-US" sz="1030" dirty="0"/>
          </a:p>
        </p:txBody>
      </p:sp>
      <p:sp>
        <p:nvSpPr>
          <p:cNvPr id="22" name="Text 19"/>
          <p:cNvSpPr/>
          <p:nvPr/>
        </p:nvSpPr>
        <p:spPr>
          <a:xfrm>
            <a:off x="457200" y="53675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" y="5367528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Buzón de solicitudes: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con estado Pendiente / Resuelto.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6355080" y="1417320"/>
            <a:ext cx="5376672" cy="411480"/>
          </a:xfrm>
          <a:prstGeom prst="roundRect">
            <a:avLst>
              <a:gd name="adj" fmla="val 13333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6355080" y="1417320"/>
            <a:ext cx="5376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 (RNF)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355080" y="196596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90372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responsiva, intuitiva para cualquier edad.</a:t>
            </a:r>
            <a:endParaRPr lang="en-US" sz="1030" dirty="0"/>
          </a:p>
        </p:txBody>
      </p:sp>
      <p:sp>
        <p:nvSpPr>
          <p:cNvPr id="28" name="Text 25"/>
          <p:cNvSpPr/>
          <p:nvPr/>
        </p:nvSpPr>
        <p:spPr>
          <a:xfrm>
            <a:off x="6355080" y="253288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903720" y="25328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cifrados; aislamiento por departamento.</a:t>
            </a:r>
            <a:endParaRPr lang="en-US" sz="1030" dirty="0"/>
          </a:p>
        </p:txBody>
      </p:sp>
      <p:sp>
        <p:nvSpPr>
          <p:cNvPr id="30" name="Text 27"/>
          <p:cNvSpPr/>
          <p:nvPr/>
        </p:nvSpPr>
        <p:spPr>
          <a:xfrm>
            <a:off x="6355080" y="3099816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RNF3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903720" y="30998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 al menos el 99% del tiempo.</a:t>
            </a:r>
            <a:endParaRPr lang="en-US" sz="1030" dirty="0"/>
          </a:p>
        </p:txBody>
      </p:sp>
      <p:sp>
        <p:nvSpPr>
          <p:cNvPr id="32" name="Text 29"/>
          <p:cNvSpPr/>
          <p:nvPr/>
        </p:nvSpPr>
        <p:spPr>
          <a:xfrm>
            <a:off x="6355080" y="366674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903720" y="36667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consultas en 2-3 segundos.</a:t>
            </a:r>
            <a:endParaRPr lang="en-US" sz="1030" dirty="0"/>
          </a:p>
        </p:txBody>
      </p:sp>
      <p:sp>
        <p:nvSpPr>
          <p:cNvPr id="34" name="Text 31"/>
          <p:cNvSpPr/>
          <p:nvPr/>
        </p:nvSpPr>
        <p:spPr>
          <a:xfrm>
            <a:off x="6355080" y="42336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RNF5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903720" y="42336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Mantenibilidad: </a:t>
            </a:r>
            <a:r>
              <a:rPr lang="en-US" sz="103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limpio y ordenado para futuras mejoras.</a:t>
            </a:r>
            <a:endParaRPr lang="en-US" sz="1030" dirty="0"/>
          </a:p>
        </p:txBody>
      </p:sp>
      <p:sp>
        <p:nvSpPr>
          <p:cNvPr id="36" name="Shape 33"/>
          <p:cNvSpPr/>
          <p:nvPr/>
        </p:nvSpPr>
        <p:spPr>
          <a:xfrm>
            <a:off x="6355080" y="4846320"/>
            <a:ext cx="5376672" cy="1417320"/>
          </a:xfrm>
          <a:prstGeom prst="roundRect">
            <a:avLst>
              <a:gd name="adj" fmla="val 5161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4"/>
          <p:cNvSpPr/>
          <p:nvPr/>
        </p:nvSpPr>
        <p:spPr>
          <a:xfrm>
            <a:off x="6583680" y="498348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RNF se verifican en la evaluación de calidad (heurística de Nielsen + criterios ISO/IEC 25000, ver láminas siguientes) antes de dar por cerrado el prototipo.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SOFTWARE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Estándares de calidad — ISO/IEC 25000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atributos de calidad de Gesco se basan en la norma ISO/IEC 25010, cubriendo seguridad, rendimiento, usabilidad, mantenibilidad y disponibilidad.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2441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 para todo tipo de usuarios.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heurística ≥ 7/10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70248" y="19659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4498848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498848" y="2441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solicitudes en menos de 3 segundos.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8848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&lt; 3 s bajo carga normal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83296" y="19659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8311896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311896" y="2441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 personales y financieros.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311896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vulnerabilidades críticas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35661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6858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85800" y="4041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estar disponible 24/7.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≥ 99% mensual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270248" y="35661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4498848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498848" y="4041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Modificaciones y actualizaciones sencillas.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498848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 &lt; 5% (SonarQube)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083296" y="356616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8311896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311896" y="4041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desde computadores, tablets y móviles.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311896" y="4617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Chrome, Firefox, Edge, Safari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del prototipo de alta fidelidad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731520" y="1691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F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Figma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31520" y="26974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Elegida por su edición colaborativa en tiempo real, componentes reutilizables y capacidad de simular interacciones (clics, navegación entre pantallas) sin necesidad de código, ideal para validar los flujos antes de programar el backend.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520" y="4297680"/>
            <a:ext cx="2743200" cy="0"/>
          </a:xfrm>
          <a:prstGeom prst="line">
            <a:avLst/>
          </a:prstGeom>
          <a:noFill/>
          <a:ln w="12700">
            <a:solidFill>
              <a:srgbClr val="4A4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731520" y="4434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requisitos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4754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RF1–RF7 y RNF1, RNF4 implementados de forma navegable en el prototipo. RNF2/3/5 se validan a nivel de diseño de arquitectura.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251960" y="1463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PRINCIPALES DEMOSTRADOS</a:t>
            </a:r>
            <a:endParaRPr lang="en-US" sz="1200" dirty="0"/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D2B99013-3480-510D-A39C-DDD7D0632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420" y="1691639"/>
            <a:ext cx="2332181" cy="4600467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95B2989F-ABA6-9E91-4292-8954973A6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3864" y="1691640"/>
            <a:ext cx="2421576" cy="4600467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E0D678D9-FD52-D3F8-A684-3B84480744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3369" y="1691640"/>
            <a:ext cx="2421576" cy="45863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CALIDAD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 de Nielsen y casos de prueba (ISO/IEC 25000)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566928" y="146304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6928" y="190195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240280" y="1371600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2350008" y="146304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350008" y="190195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prom. (0-4)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023360" y="1371600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F1DED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4133088" y="146304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133088" y="190195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Catastróf.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(sev. 4)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06440" y="1371600"/>
            <a:ext cx="1645920" cy="960120"/>
          </a:xfrm>
          <a:prstGeom prst="roundRect">
            <a:avLst>
              <a:gd name="adj" fmla="val 6667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5916168" y="1463040"/>
            <a:ext cx="14264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916168" y="190195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(sev. 3)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7200" y="25146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MAYOR SEVERIDAD (fuente: evaluación heurística propia)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880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32688" y="28986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463040" y="288036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genérica compartida para toda la administración.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457200" y="33558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45720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32688" y="33741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463040" y="3355848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común puede acceder a la navegación de Administración.</a:t>
            </a:r>
            <a:endParaRPr lang="en-US" sz="1030" dirty="0"/>
          </a:p>
        </p:txBody>
      </p:sp>
      <p:sp>
        <p:nvSpPr>
          <p:cNvPr id="29" name="Shape 26"/>
          <p:cNvSpPr/>
          <p:nvPr/>
        </p:nvSpPr>
        <p:spPr>
          <a:xfrm>
            <a:off x="457200" y="3831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45720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32688" y="38496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463040" y="3831336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Aprobar/rechazar un pago no confirma visualmente la acción al admin.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457200" y="43068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97A1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1"/>
          <p:cNvSpPr/>
          <p:nvPr/>
        </p:nvSpPr>
        <p:spPr>
          <a:xfrm>
            <a:off x="457200" y="4306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32688" y="432511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463040" y="4306824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módulo para ver el flujo de caja de pagos validados.</a:t>
            </a:r>
            <a:endParaRPr lang="en-US" sz="1030" dirty="0"/>
          </a:p>
        </p:txBody>
      </p:sp>
      <p:sp>
        <p:nvSpPr>
          <p:cNvPr id="37" name="Shape 34"/>
          <p:cNvSpPr/>
          <p:nvPr/>
        </p:nvSpPr>
        <p:spPr>
          <a:xfrm>
            <a:off x="457200" y="47823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97A1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/>
          <p:nvPr/>
        </p:nvSpPr>
        <p:spPr>
          <a:xfrm>
            <a:off x="457200" y="4782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32688" y="48006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463040" y="478231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permanece abierta indefinidamente sin cierre automático.</a:t>
            </a:r>
            <a:endParaRPr lang="en-US" sz="1030" dirty="0"/>
          </a:p>
        </p:txBody>
      </p:sp>
      <p:sp>
        <p:nvSpPr>
          <p:cNvPr id="41" name="Text 38"/>
          <p:cNvSpPr/>
          <p:nvPr/>
        </p:nvSpPr>
        <p:spPr>
          <a:xfrm>
            <a:off x="457200" y="53492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hallazgos totales, promedio de severidad 2.4/4 · evaluador: Benjamin Campos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680960" y="1371600"/>
            <a:ext cx="0" cy="489204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0"/>
          <p:cNvSpPr/>
          <p:nvPr/>
        </p:nvSpPr>
        <p:spPr>
          <a:xfrm>
            <a:off x="7955280" y="13716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— CRITERIOS ISO/IEC 25000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178308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2"/>
          <p:cNvSpPr/>
          <p:nvPr/>
        </p:nvSpPr>
        <p:spPr>
          <a:xfrm>
            <a:off x="8092440" y="18379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092440" y="21122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heurística ≥ 7/10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424160" y="178308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progreso*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7955280" y="2532888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9" name="Text 46"/>
          <p:cNvSpPr/>
          <p:nvPr/>
        </p:nvSpPr>
        <p:spPr>
          <a:xfrm>
            <a:off x="8092440" y="2587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8092440" y="28620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 &lt; 3 s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424160" y="253288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7955280" y="3282696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3" name="Text 50"/>
          <p:cNvSpPr/>
          <p:nvPr/>
        </p:nvSpPr>
        <p:spPr>
          <a:xfrm>
            <a:off x="809244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809244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vulnerabilidades críticas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0424160" y="3282696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7955280" y="4032504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7" name="Text 54"/>
          <p:cNvSpPr/>
          <p:nvPr/>
        </p:nvSpPr>
        <p:spPr>
          <a:xfrm>
            <a:off x="8092440" y="4087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8092440" y="43616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≥ 99% mensual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10424160" y="4032504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7955280" y="4782312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1" name="Text 58"/>
          <p:cNvSpPr/>
          <p:nvPr/>
        </p:nvSpPr>
        <p:spPr>
          <a:xfrm>
            <a:off x="8092440" y="48371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8092440" y="51114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 &lt; 5% (SonarQube)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0424160" y="478231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7955280" y="553212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4F3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5" name="Text 62"/>
          <p:cNvSpPr/>
          <p:nvPr/>
        </p:nvSpPr>
        <p:spPr>
          <a:xfrm>
            <a:off x="8092440" y="55869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8092440" y="58613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 / Edge / Safari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10424160" y="553212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7955280" y="632764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*Los 3 hallazgos catastróficos (severidad 4) mantienen la usabilidad bajo el umbral hasta ser corregidos — ver acciones de mejora.</a:t>
            </a:r>
            <a:endParaRPr lang="en-US" sz="900" dirty="0"/>
          </a:p>
        </p:txBody>
      </p:sp>
      <p:pic>
        <p:nvPicPr>
          <p:cNvPr id="70" name="Imagen 69">
            <a:extLst>
              <a:ext uri="{FF2B5EF4-FFF2-40B4-BE49-F238E27FC236}">
                <a16:creationId xmlns:a16="http://schemas.microsoft.com/office/drawing/2014/main" id="{A13E9B5E-5E4E-78C9-6743-6B919B7A1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668" y="2514600"/>
            <a:ext cx="1990572" cy="40382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2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de mejora y control de versiones</a:t>
            </a:r>
            <a:endParaRPr lang="en-US" sz="2600" dirty="0"/>
          </a:p>
        </p:txBody>
      </p:sp>
      <p:pic>
        <p:nvPicPr>
          <p:cNvPr id="4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92608"/>
            <a:ext cx="2084832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7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DE MEJORA PRIORITARIAS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70078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6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de los hallazgos catastróficos y mayores de la evaluación heurística.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57200" y="2103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066544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6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individuales de administración: </a:t>
            </a:r>
            <a:r>
              <a:rPr lang="en-US" sz="106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la contraseña genérica compartida y validar por rol y usuario.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457200" y="27614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457200" y="27614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72491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6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navegación por rol: </a:t>
            </a:r>
            <a:r>
              <a:rPr lang="en-US" sz="106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barra inferior no debe exponer a un residente las opciones de Administración.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457200" y="34198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457200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338328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6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Confirmaciones visuales (toast): </a:t>
            </a:r>
            <a:r>
              <a:rPr lang="en-US" sz="106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Aprobar/rechazar un pago debe notificar de inmediato el resultado.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57200" y="40782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457200" y="4078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4041648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6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ingresos de caja: </a:t>
            </a:r>
            <a:r>
              <a:rPr lang="en-US" sz="106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sección para ver en tiempo real qué departamentos ya pagaron.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457200" y="47365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457200" y="4736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4400" y="4700016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60" b="1" dirty="0">
                <a:solidFill>
                  <a:srgbClr val="332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 automático: </a:t>
            </a:r>
            <a:r>
              <a:rPr lang="en-US" sz="1060" dirty="0">
                <a:solidFill>
                  <a:srgbClr val="4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Expirar la sesión tras 10 minutos de inactividad.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7452360" y="1417320"/>
            <a:ext cx="0" cy="4846320"/>
          </a:xfrm>
          <a:prstGeom prst="line">
            <a:avLst/>
          </a:prstGeom>
          <a:noFill/>
          <a:ln w="12700">
            <a:solidFill>
              <a:srgbClr val="E3E1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3"/>
          <p:cNvSpPr/>
          <p:nvPr/>
        </p:nvSpPr>
        <p:spPr>
          <a:xfrm>
            <a:off x="7726680" y="1417320"/>
            <a:ext cx="4023360" cy="4846320"/>
          </a:xfrm>
          <a:prstGeom prst="roundRect">
            <a:avLst>
              <a:gd name="adj" fmla="val 1818"/>
            </a:avLst>
          </a:prstGeom>
          <a:solidFill>
            <a:srgbClr val="332F3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800100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F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001000" y="2011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Figma + GitHub</a:t>
            </a:r>
            <a:endParaRPr lang="en-US" sz="2600" dirty="0"/>
          </a:p>
        </p:txBody>
      </p:sp>
      <p:sp>
        <p:nvSpPr>
          <p:cNvPr id="29" name="Shape 26"/>
          <p:cNvSpPr/>
          <p:nvPr/>
        </p:nvSpPr>
        <p:spPr>
          <a:xfrm>
            <a:off x="8028432" y="2816352"/>
            <a:ext cx="82296" cy="82296"/>
          </a:xfrm>
          <a:prstGeom prst="ellipse">
            <a:avLst/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8229600" y="267004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remoto: </a:t>
            </a:r>
            <a:r>
              <a:rPr lang="en-US" sz="103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como fuente única de verdad del código y la documentación.</a:t>
            </a:r>
            <a:endParaRPr lang="en-US" sz="1030" dirty="0"/>
          </a:p>
        </p:txBody>
      </p:sp>
      <p:sp>
        <p:nvSpPr>
          <p:cNvPr id="31" name="Shape 28"/>
          <p:cNvSpPr/>
          <p:nvPr/>
        </p:nvSpPr>
        <p:spPr>
          <a:xfrm>
            <a:off x="8028432" y="3593592"/>
            <a:ext cx="82296" cy="82296"/>
          </a:xfrm>
          <a:prstGeom prst="ellipse">
            <a:avLst/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8229600" y="344728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descriptivos: </a:t>
            </a:r>
            <a:r>
              <a:rPr lang="en-US" sz="103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lógico por commit, con mensajes en tiempo presente.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8028432" y="4370832"/>
            <a:ext cx="82296" cy="82296"/>
          </a:xfrm>
          <a:prstGeom prst="ellipse">
            <a:avLst/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31"/>
          <p:cNvSpPr/>
          <p:nvPr/>
        </p:nvSpPr>
        <p:spPr>
          <a:xfrm>
            <a:off x="8229600" y="422452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por entrega: </a:t>
            </a:r>
            <a:r>
              <a:rPr lang="en-US" sz="103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estable + ramas de trabajo por fase del ciclo en cascada.</a:t>
            </a:r>
            <a:endParaRPr lang="en-US" sz="1030" dirty="0"/>
          </a:p>
        </p:txBody>
      </p:sp>
      <p:sp>
        <p:nvSpPr>
          <p:cNvPr id="35" name="Shape 32"/>
          <p:cNvSpPr/>
          <p:nvPr/>
        </p:nvSpPr>
        <p:spPr>
          <a:xfrm>
            <a:off x="8028432" y="5148072"/>
            <a:ext cx="82296" cy="82296"/>
          </a:xfrm>
          <a:prstGeom prst="ellipse">
            <a:avLst/>
          </a:prstGeom>
          <a:solidFill>
            <a:srgbClr val="EF9B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8229600" y="500176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trazable: </a:t>
            </a:r>
            <a:r>
              <a:rPr lang="en-US" sz="1030" dirty="0">
                <a:solidFill>
                  <a:srgbClr val="D8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volver a cualquier punto anterior del prototipo si algo falla.</a:t>
            </a:r>
            <a:endParaRPr lang="en-US" sz="10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32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286000"/>
            <a:ext cx="5486400" cy="5486400"/>
          </a:xfrm>
          <a:prstGeom prst="ellipse">
            <a:avLst/>
          </a:prstGeom>
          <a:solidFill>
            <a:srgbClr val="4A4557">
              <a:alpha val="5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4A4557">
              <a:alpha val="4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2606040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/home/claude/assets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03504"/>
            <a:ext cx="237744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F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GESCO: EL MIRADOR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de la comisión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1828800" cy="0"/>
          </a:xfrm>
          <a:prstGeom prst="line">
            <a:avLst/>
          </a:prstGeom>
          <a:noFill/>
          <a:ln w="31750">
            <a:solidFill>
              <a:srgbClr val="EF9B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Campos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RQY1102 · Duoc UC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2084</Words>
  <Application>Microsoft Office PowerPoint</Application>
  <PresentationFormat>Panorámica</PresentationFormat>
  <Paragraphs>324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BENJAMIN ANDRES CAMPOS AGUAYO</cp:lastModifiedBy>
  <cp:revision>4</cp:revision>
  <dcterms:created xsi:type="dcterms:W3CDTF">2026-07-10T05:03:13Z</dcterms:created>
  <dcterms:modified xsi:type="dcterms:W3CDTF">2026-07-10T07:10:53Z</dcterms:modified>
</cp:coreProperties>
</file>